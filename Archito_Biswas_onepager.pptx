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3" d="100"/>
          <a:sy n="63" d="100"/>
        </p:scale>
        <p:origin x="80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p:cNvSpPr>
            <a:spLocks noGrp="1"/>
          </p:cNvSpPr>
          <p:nvPr>
            <p:ph type="dt" sz="half" idx="10"/>
          </p:nvPr>
        </p:nvSpPr>
        <p:spPr/>
        <p:txBody>
          <a:bodyPr/>
          <a:lstStyle/>
          <a:p>
            <a:fld id="{C86B29F8-5AC8-480D-A6E3-0D7814CE59EC}" type="datetimeFigureOut">
              <a:rPr lang="en-ZA" smtClean="0"/>
              <a:t>2026/02/04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4089096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C86B29F8-5AC8-480D-A6E3-0D7814CE59EC}" type="datetimeFigureOut">
              <a:rPr lang="en-ZA" smtClean="0"/>
              <a:t>2026/02/04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1719355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86B29F8-5AC8-480D-A6E3-0D7814CE59EC}" type="datetimeFigureOut">
              <a:rPr lang="en-ZA" smtClean="0"/>
              <a:t>2026/02/04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2578877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p>
            <a:fld id="{C86B29F8-5AC8-480D-A6E3-0D7814CE59EC}" type="datetimeFigureOut">
              <a:rPr lang="en-ZA" smtClean="0"/>
              <a:t>2026/02/04</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1605017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p:cNvSpPr>
            <a:spLocks noGrp="1"/>
          </p:cNvSpPr>
          <p:nvPr>
            <p:ph type="dt" sz="half" idx="10"/>
          </p:nvPr>
        </p:nvSpPr>
        <p:spPr/>
        <p:txBody>
          <a:bodyPr/>
          <a:lstStyle/>
          <a:p>
            <a:fld id="{C86B29F8-5AC8-480D-A6E3-0D7814CE59EC}" type="datetimeFigureOut">
              <a:rPr lang="en-ZA" smtClean="0"/>
              <a:t>2026/02/04</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2634503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fld id="{C86B29F8-5AC8-480D-A6E3-0D7814CE59EC}" type="datetimeFigureOut">
              <a:rPr lang="en-ZA" smtClean="0"/>
              <a:t>2026/02/04</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2933040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6B29F8-5AC8-480D-A6E3-0D7814CE59EC}" type="datetimeFigureOut">
              <a:rPr lang="en-ZA" smtClean="0"/>
              <a:t>2026/02/04</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838662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6B29F8-5AC8-480D-A6E3-0D7814CE59EC}" type="datetimeFigureOut">
              <a:rPr lang="en-ZA" smtClean="0"/>
              <a:t>2026/02/04</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2417961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6B29F8-5AC8-480D-A6E3-0D7814CE59EC}" type="datetimeFigureOut">
              <a:rPr lang="en-ZA" smtClean="0"/>
              <a:t>2026/02/04</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4049424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C86B29F8-5AC8-480D-A6E3-0D7814CE59EC}" type="datetimeFigureOut">
              <a:rPr lang="en-ZA" smtClean="0"/>
              <a:t>2026/02/04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3347193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p>
            <a:fld id="{C86B29F8-5AC8-480D-A6E3-0D7814CE59EC}" type="datetimeFigureOut">
              <a:rPr lang="en-ZA" smtClean="0"/>
              <a:t>2026/02/04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BF87C5D-CCDB-4355-8226-004AEE8E078A}" type="slidenum">
              <a:rPr lang="en-ZA" smtClean="0"/>
              <a:t>‹#›</a:t>
            </a:fld>
            <a:endParaRPr lang="en-ZA"/>
          </a:p>
        </p:txBody>
      </p:sp>
    </p:spTree>
    <p:extLst>
      <p:ext uri="{BB962C8B-B14F-4D97-AF65-F5344CB8AC3E}">
        <p14:creationId xmlns:p14="http://schemas.microsoft.com/office/powerpoint/2010/main" val="3602777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6B29F8-5AC8-480D-A6E3-0D7814CE59EC}" type="datetimeFigureOut">
              <a:rPr lang="en-ZA" smtClean="0"/>
              <a:t>2026/02/04</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F87C5D-CCDB-4355-8226-004AEE8E078A}" type="slidenum">
              <a:rPr lang="en-ZA" smtClean="0"/>
              <a:t>‹#›</a:t>
            </a:fld>
            <a:endParaRPr lang="en-ZA"/>
          </a:p>
        </p:txBody>
      </p:sp>
    </p:spTree>
    <p:extLst>
      <p:ext uri="{BB962C8B-B14F-4D97-AF65-F5344CB8AC3E}">
        <p14:creationId xmlns:p14="http://schemas.microsoft.com/office/powerpoint/2010/main" val="28931556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ChangeArrowheads="1"/>
          </p:cNvSpPr>
          <p:nvPr/>
        </p:nvSpPr>
        <p:spPr bwMode="auto">
          <a:xfrm>
            <a:off x="5647544" y="0"/>
            <a:ext cx="6544456" cy="6848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72000" tIns="72000" rIns="72000" bIns="72000"/>
          <a:lstStyle/>
          <a:p>
            <a:pPr marL="0" marR="0" lvl="0" indent="-171450" algn="just" defTabSz="911225" rtl="0" eaLnBrk="0" fontAlgn="auto" latinLnBrk="0" hangingPunct="0">
              <a:lnSpc>
                <a:spcPct val="100000"/>
              </a:lnSpc>
              <a:spcBef>
                <a:spcPts val="600"/>
              </a:spcBef>
              <a:spcAft>
                <a:spcPts val="600"/>
              </a:spcAft>
              <a:buClr>
                <a:prstClr val="black"/>
              </a:buClr>
              <a:buSzTx/>
              <a:buFont typeface="Wingdings" pitchFamily="2" charset="2"/>
              <a:buNone/>
              <a:tabLst/>
              <a:defRPr/>
            </a:pPr>
            <a:r>
              <a:rPr kumimoji="0" lang="en-ZA" sz="870" b="1" i="0" u="none" strike="noStrike" kern="1200" cap="none" spc="0" normalizeH="0" baseline="0" noProof="0" dirty="0">
                <a:ln>
                  <a:noFill/>
                </a:ln>
                <a:solidFill>
                  <a:srgbClr val="5B9BD5"/>
                </a:solidFill>
                <a:effectLst/>
                <a:uLnTx/>
                <a:uFillTx/>
                <a:ea typeface="+mn-ea"/>
                <a:cs typeface="+mn-cs"/>
              </a:rPr>
              <a:t>Selected Experience</a:t>
            </a:r>
            <a:endParaRPr kumimoji="0" lang="en-US" sz="870" i="0" u="none" strike="noStrike" kern="1200" cap="none" spc="0" normalizeH="0" baseline="0" noProof="0" dirty="0">
              <a:ln>
                <a:noFill/>
              </a:ln>
              <a:solidFill>
                <a:srgbClr val="000000"/>
              </a:solidFill>
              <a:effectLst/>
              <a:uLnTx/>
              <a:uFillTx/>
              <a:ea typeface="+mn-ea"/>
              <a:cs typeface="+mn-cs"/>
            </a:endParaRPr>
          </a:p>
          <a:p>
            <a:pPr marL="0" marR="0" lvl="0" indent="-171450" algn="just" defTabSz="911225" rtl="0" eaLnBrk="0" fontAlgn="auto" latinLnBrk="0" hangingPunct="0">
              <a:lnSpc>
                <a:spcPct val="100000"/>
              </a:lnSpc>
              <a:spcBef>
                <a:spcPts val="600"/>
              </a:spcBef>
              <a:spcAft>
                <a:spcPts val="600"/>
              </a:spcAft>
              <a:buClr>
                <a:prstClr val="black"/>
              </a:buClr>
              <a:buSzTx/>
              <a:buFont typeface="Wingdings" pitchFamily="2" charset="2"/>
              <a:buNone/>
              <a:tabLst/>
              <a:defRPr/>
            </a:pPr>
            <a:r>
              <a:rPr lang="en-US" sz="880" b="1" dirty="0">
                <a:solidFill>
                  <a:srgbClr val="000000"/>
                </a:solidFill>
              </a:rPr>
              <a:t>Artificial Intelligence Foundation 2.0 — Unilever (21/08/2025- Present):​</a:t>
            </a:r>
            <a:endParaRPr lang="en-US" sz="880" dirty="0">
              <a:solidFill>
                <a:srgbClr val="000000"/>
              </a:solidFill>
              <a:ea typeface="Verdana" panose="020B0604030504040204" pitchFamily="34" charset="0"/>
            </a:endParaRPr>
          </a:p>
          <a:p>
            <a:pPr marL="0" lvl="2" algn="just" fontAlgn="base">
              <a:defRPr/>
            </a:pPr>
            <a:r>
              <a:rPr lang="en-US" sz="880" dirty="0">
                <a:solidFill>
                  <a:srgbClr val="000000"/>
                </a:solidFill>
                <a:ea typeface="Verdana" panose="020B0604030504040204" pitchFamily="34" charset="0"/>
              </a:rPr>
              <a:t>•Designed ER Diagram for prompt library, prompt playground and prompt comparison features.</a:t>
            </a:r>
          </a:p>
          <a:p>
            <a:pPr marL="0" lvl="2" algn="just" fontAlgn="base">
              <a:defRPr/>
            </a:pPr>
            <a:r>
              <a:rPr lang="en-US" sz="880" dirty="0">
                <a:solidFill>
                  <a:srgbClr val="000000"/>
                </a:solidFill>
                <a:ea typeface="Verdana" panose="020B0604030504040204" pitchFamily="34" charset="0"/>
              </a:rPr>
              <a:t>•Object-level authorization implementation (owner vs non-owner, public vs private) for dashboards and prompt library </a:t>
            </a:r>
          </a:p>
          <a:p>
            <a:pPr marL="0" lvl="2" algn="just" fontAlgn="base">
              <a:defRPr/>
            </a:pPr>
            <a:r>
              <a:rPr lang="en-US" sz="880" dirty="0">
                <a:solidFill>
                  <a:srgbClr val="000000"/>
                </a:solidFill>
                <a:ea typeface="Verdana" panose="020B0604030504040204" pitchFamily="34" charset="0"/>
              </a:rPr>
              <a:t>•Designed 2 analytical and audit dashboard for LLM cost association like average cost per 1k token, developed time series graph to see the fluctuation of cost across all the apps over time and other bar and graphs created to have a over all idea of cost involvement for All the Apps and Models. In the other Analytical dashboard, we kept no of total request, no of request per second no of unique apps and models associated with it. There I also developed bar and line charts and doughnut charts to see successful and failed API request, average response time over the period, top LLM models handled the most request and breakdown of all the successful and erroneous request. </a:t>
            </a:r>
          </a:p>
          <a:p>
            <a:pPr marL="0" lvl="2" algn="just" fontAlgn="base">
              <a:defRPr/>
            </a:pPr>
            <a:r>
              <a:rPr lang="en-US" sz="880" dirty="0">
                <a:solidFill>
                  <a:srgbClr val="000000"/>
                </a:solidFill>
                <a:ea typeface="Verdana" panose="020B0604030504040204" pitchFamily="34" charset="0"/>
              </a:rPr>
              <a:t>•Developed ethics and compliance dashboard to check what percentage of requests meets regulatory &amp; internal rules. Segregated policy violations in 5 categories and displayed them as KPIs in the ethics dashboard. Also, doughnut charts to see the distribution of the PIIs detected in the prompts.</a:t>
            </a:r>
          </a:p>
          <a:p>
            <a:pPr marL="0" lvl="2" algn="just" fontAlgn="base">
              <a:defRPr/>
            </a:pPr>
            <a:r>
              <a:rPr lang="en-US" sz="880" dirty="0">
                <a:solidFill>
                  <a:srgbClr val="000000"/>
                </a:solidFill>
                <a:ea typeface="Verdana" panose="020B0604030504040204" pitchFamily="34" charset="0"/>
              </a:rPr>
              <a:t>•Created rest APIs to create a new prompt, Colne a public prompt, edit an existing prompt and delete a prompt with feature of deleting a particular selected version of the prompt or the whole prompt with all the version in it. </a:t>
            </a:r>
          </a:p>
          <a:p>
            <a:pPr marL="0" lvl="2" algn="just" fontAlgn="base">
              <a:defRPr/>
            </a:pPr>
            <a:r>
              <a:rPr lang="en-US" sz="880" dirty="0">
                <a:solidFill>
                  <a:srgbClr val="000000"/>
                </a:solidFill>
                <a:ea typeface="Verdana" panose="020B0604030504040204" pitchFamily="34" charset="0"/>
              </a:rPr>
              <a:t>•Created APIs with GET, PUT,POST method for all the 3 dashboards which are Cost Analytics, System Analytics and Ethics and compliance dashboard </a:t>
            </a:r>
          </a:p>
          <a:p>
            <a:pPr marL="0" lvl="2" algn="just" fontAlgn="base">
              <a:defRPr/>
            </a:pPr>
            <a:r>
              <a:rPr lang="en-US" sz="880" dirty="0">
                <a:solidFill>
                  <a:srgbClr val="000000"/>
                </a:solidFill>
                <a:ea typeface="Verdana" panose="020B0604030504040204" pitchFamily="34" charset="0"/>
              </a:rPr>
              <a:t>•Applied </a:t>
            </a:r>
            <a:r>
              <a:rPr lang="en-US" sz="880" dirty="0" err="1">
                <a:solidFill>
                  <a:srgbClr val="000000"/>
                </a:solidFill>
                <a:ea typeface="Verdana" panose="020B0604030504040204" pitchFamily="34" charset="0"/>
              </a:rPr>
              <a:t>ColumnStore</a:t>
            </a:r>
            <a:r>
              <a:rPr lang="en-US" sz="880" dirty="0">
                <a:solidFill>
                  <a:srgbClr val="000000"/>
                </a:solidFill>
                <a:ea typeface="Verdana" panose="020B0604030504040204" pitchFamily="34" charset="0"/>
              </a:rPr>
              <a:t> indexes to optimize the </a:t>
            </a:r>
            <a:r>
              <a:rPr lang="en-US" sz="880" dirty="0" err="1">
                <a:solidFill>
                  <a:srgbClr val="000000"/>
                </a:solidFill>
                <a:ea typeface="Verdana" panose="020B0604030504040204" pitchFamily="34" charset="0"/>
              </a:rPr>
              <a:t>sql</a:t>
            </a:r>
            <a:r>
              <a:rPr lang="en-US" sz="880" dirty="0">
                <a:solidFill>
                  <a:srgbClr val="000000"/>
                </a:solidFill>
                <a:ea typeface="Verdana" panose="020B0604030504040204" pitchFamily="34" charset="0"/>
              </a:rPr>
              <a:t> query run time and to optimize the API response faster on the dashboards.</a:t>
            </a:r>
          </a:p>
          <a:p>
            <a:pPr marL="0" lvl="2" algn="just" fontAlgn="base">
              <a:defRPr/>
            </a:pPr>
            <a:r>
              <a:rPr lang="en-US" sz="880" dirty="0">
                <a:solidFill>
                  <a:srgbClr val="000000"/>
                </a:solidFill>
                <a:ea typeface="Verdana" panose="020B0604030504040204" pitchFamily="34" charset="0"/>
              </a:rPr>
              <a:t>•Applied Materialized Views depending upon the granularity level of the dashboards. </a:t>
            </a:r>
          </a:p>
          <a:p>
            <a:pPr marL="0" lvl="2" algn="just" fontAlgn="base">
              <a:defRPr/>
            </a:pPr>
            <a:r>
              <a:rPr lang="en-US" sz="880" dirty="0">
                <a:solidFill>
                  <a:srgbClr val="000000"/>
                </a:solidFill>
                <a:ea typeface="Verdana" panose="020B0604030504040204" pitchFamily="34" charset="0"/>
              </a:rPr>
              <a:t>•Used Azure </a:t>
            </a:r>
            <a:r>
              <a:rPr lang="en-US" sz="880" dirty="0" err="1">
                <a:solidFill>
                  <a:srgbClr val="000000"/>
                </a:solidFill>
                <a:ea typeface="Verdana" panose="020B0604030504040204" pitchFamily="34" charset="0"/>
              </a:rPr>
              <a:t>Devops</a:t>
            </a:r>
            <a:r>
              <a:rPr lang="en-US" sz="880" dirty="0">
                <a:solidFill>
                  <a:srgbClr val="000000"/>
                </a:solidFill>
                <a:ea typeface="Verdana" panose="020B0604030504040204" pitchFamily="34" charset="0"/>
              </a:rPr>
              <a:t> services to maintain the workflow, Folder structure, git operations and individual task level monitoring. </a:t>
            </a:r>
          </a:p>
          <a:p>
            <a:pPr marL="0" lvl="2" algn="just" fontAlgn="base">
              <a:defRPr/>
            </a:pPr>
            <a:r>
              <a:rPr lang="en-US" sz="880" dirty="0">
                <a:solidFill>
                  <a:srgbClr val="000000"/>
                </a:solidFill>
                <a:ea typeface="Verdana" panose="020B0604030504040204" pitchFamily="34" charset="0"/>
              </a:rPr>
              <a:t>Tech: Azure </a:t>
            </a:r>
            <a:r>
              <a:rPr lang="en-US" sz="880" dirty="0" err="1">
                <a:solidFill>
                  <a:srgbClr val="000000"/>
                </a:solidFill>
                <a:ea typeface="Verdana" panose="020B0604030504040204" pitchFamily="34" charset="0"/>
              </a:rPr>
              <a:t>Devops</a:t>
            </a:r>
            <a:r>
              <a:rPr lang="en-US" sz="880" dirty="0">
                <a:solidFill>
                  <a:srgbClr val="000000"/>
                </a:solidFill>
                <a:ea typeface="Verdana" panose="020B0604030504040204" pitchFamily="34" charset="0"/>
              </a:rPr>
              <a:t>, Azure </a:t>
            </a:r>
            <a:r>
              <a:rPr lang="en-US" sz="880" dirty="0" err="1">
                <a:solidFill>
                  <a:srgbClr val="000000"/>
                </a:solidFill>
                <a:ea typeface="Verdana" panose="020B0604030504040204" pitchFamily="34" charset="0"/>
              </a:rPr>
              <a:t>DataBricks</a:t>
            </a:r>
            <a:r>
              <a:rPr lang="en-US" sz="880" dirty="0">
                <a:solidFill>
                  <a:srgbClr val="000000"/>
                </a:solidFill>
                <a:ea typeface="Verdana" panose="020B0604030504040204" pitchFamily="34" charset="0"/>
              </a:rPr>
              <a:t>, Python, SSMS</a:t>
            </a:r>
          </a:p>
          <a:p>
            <a:pPr marL="0" lvl="2" algn="just" fontAlgn="base">
              <a:defRPr/>
            </a:pPr>
            <a:endParaRPr lang="en-US" sz="880" dirty="0">
              <a:solidFill>
                <a:srgbClr val="000000"/>
              </a:solidFill>
            </a:endParaRPr>
          </a:p>
          <a:p>
            <a:pPr marL="0" lvl="2" indent="0" algn="just" fontAlgn="base">
              <a:spcAft>
                <a:spcPts val="0"/>
              </a:spcAft>
              <a:buNone/>
              <a:defRPr/>
            </a:pPr>
            <a:r>
              <a:rPr lang="en-US" sz="880" b="1" dirty="0">
                <a:solidFill>
                  <a:srgbClr val="000000"/>
                </a:solidFill>
              </a:rPr>
              <a:t>Market Unified AI and Data Platform — Dubai Digital (02/06/2025 - 18/08/2025):​</a:t>
            </a:r>
            <a:endParaRPr lang="en-US" sz="880" b="0" i="0" dirty="0">
              <a:solidFill>
                <a:srgbClr val="000000"/>
              </a:solidFill>
              <a:effectLst/>
              <a:ea typeface="Verdana" panose="020B0604030504040204" pitchFamily="34" charset="0"/>
            </a:endParaRPr>
          </a:p>
          <a:p>
            <a:pPr marL="0" lvl="2" indent="0" algn="just" fontAlgn="base">
              <a:spcAft>
                <a:spcPts val="0"/>
              </a:spcAft>
              <a:buNone/>
              <a:defRPr/>
            </a:pPr>
            <a:r>
              <a:rPr lang="en-US" sz="880" b="0" i="0" dirty="0">
                <a:solidFill>
                  <a:srgbClr val="000000"/>
                </a:solidFill>
                <a:effectLst/>
                <a:ea typeface="Verdana" panose="020B0604030504040204" pitchFamily="34" charset="0"/>
              </a:rPr>
              <a:t>•Implemented an event trigger to autogenerate Airflow DAGs on data contract upload with JSON and YAML contracts validated through JSON Schema.</a:t>
            </a:r>
          </a:p>
          <a:p>
            <a:pPr marL="0" lvl="2" indent="0" algn="just" fontAlgn="base">
              <a:spcAft>
                <a:spcPts val="0"/>
              </a:spcAft>
              <a:buNone/>
              <a:defRPr/>
            </a:pPr>
            <a:r>
              <a:rPr lang="en-US" sz="880" b="0" i="0" dirty="0">
                <a:solidFill>
                  <a:srgbClr val="000000"/>
                </a:solidFill>
                <a:effectLst/>
                <a:ea typeface="Verdana" panose="020B0604030504040204" pitchFamily="34" charset="0"/>
              </a:rPr>
              <a:t>•Ran </a:t>
            </a:r>
            <a:r>
              <a:rPr lang="en-US" sz="880" b="0" i="0" dirty="0" err="1">
                <a:solidFill>
                  <a:srgbClr val="000000"/>
                </a:solidFill>
                <a:effectLst/>
                <a:ea typeface="Verdana" panose="020B0604030504040204" pitchFamily="34" charset="0"/>
              </a:rPr>
              <a:t>dbt</a:t>
            </a:r>
            <a:r>
              <a:rPr lang="en-US" sz="880" b="0" i="0" dirty="0">
                <a:solidFill>
                  <a:srgbClr val="000000"/>
                </a:solidFill>
                <a:effectLst/>
                <a:ea typeface="Verdana" panose="020B0604030504040204" pitchFamily="34" charset="0"/>
              </a:rPr>
              <a:t> through </a:t>
            </a:r>
            <a:r>
              <a:rPr lang="en-US" sz="880" b="0" i="0" dirty="0" err="1">
                <a:solidFill>
                  <a:srgbClr val="000000"/>
                </a:solidFill>
                <a:effectLst/>
                <a:ea typeface="Verdana" panose="020B0604030504040204" pitchFamily="34" charset="0"/>
              </a:rPr>
              <a:t>KubernetesPodOperator</a:t>
            </a:r>
            <a:r>
              <a:rPr lang="en-US" sz="880" b="0" i="0" dirty="0">
                <a:solidFill>
                  <a:srgbClr val="000000"/>
                </a:solidFill>
                <a:effectLst/>
                <a:ea typeface="Verdana" panose="020B0604030504040204" pitchFamily="34" charset="0"/>
              </a:rPr>
              <a:t> with per run resource isolation and dynamic </a:t>
            </a:r>
            <a:r>
              <a:rPr lang="en-US" sz="880" b="0" i="0" dirty="0" err="1">
                <a:solidFill>
                  <a:srgbClr val="000000"/>
                </a:solidFill>
                <a:effectLst/>
                <a:ea typeface="Verdana" panose="020B0604030504040204" pitchFamily="34" charset="0"/>
              </a:rPr>
              <a:t>dbt</a:t>
            </a:r>
            <a:r>
              <a:rPr lang="en-US" sz="880" b="0" i="0" dirty="0">
                <a:solidFill>
                  <a:srgbClr val="000000"/>
                </a:solidFill>
                <a:effectLst/>
                <a:ea typeface="Verdana" panose="020B0604030504040204" pitchFamily="34" charset="0"/>
              </a:rPr>
              <a:t> project selection without hardcoding.</a:t>
            </a:r>
          </a:p>
          <a:p>
            <a:pPr marL="0" lvl="2" indent="0" algn="just" fontAlgn="base">
              <a:spcAft>
                <a:spcPts val="0"/>
              </a:spcAft>
              <a:buNone/>
              <a:defRPr/>
            </a:pPr>
            <a:r>
              <a:rPr lang="en-US" sz="880" b="0" i="0" dirty="0">
                <a:solidFill>
                  <a:srgbClr val="000000"/>
                </a:solidFill>
                <a:effectLst/>
                <a:ea typeface="Verdana" panose="020B0604030504040204" pitchFamily="34" charset="0"/>
              </a:rPr>
              <a:t>•Delivered secure SFTP to Amazon S3 ingestion for KML and ZIP payloads with checksum verification, decompression, schema detection, and a retry policy.</a:t>
            </a:r>
          </a:p>
          <a:p>
            <a:pPr marL="0" lvl="2" indent="0" algn="just" fontAlgn="base">
              <a:spcAft>
                <a:spcPts val="0"/>
              </a:spcAft>
              <a:buNone/>
              <a:defRPr/>
            </a:pPr>
            <a:r>
              <a:rPr lang="en-US" sz="880" b="0" i="0" dirty="0">
                <a:solidFill>
                  <a:srgbClr val="000000"/>
                </a:solidFill>
                <a:effectLst/>
                <a:ea typeface="Verdana" panose="020B0604030504040204" pitchFamily="34" charset="0"/>
              </a:rPr>
              <a:t>•Generated </a:t>
            </a:r>
            <a:r>
              <a:rPr lang="en-US" sz="880" b="0" i="0" dirty="0" err="1">
                <a:solidFill>
                  <a:srgbClr val="000000"/>
                </a:solidFill>
                <a:effectLst/>
                <a:ea typeface="Verdana" panose="020B0604030504040204" pitchFamily="34" charset="0"/>
              </a:rPr>
              <a:t>profiles.yml</a:t>
            </a:r>
            <a:r>
              <a:rPr lang="en-US" sz="880" b="0" i="0" dirty="0">
                <a:solidFill>
                  <a:srgbClr val="000000"/>
                </a:solidFill>
                <a:effectLst/>
                <a:ea typeface="Verdana" panose="020B0604030504040204" pitchFamily="34" charset="0"/>
              </a:rPr>
              <a:t> at runtime from Kubernetes and AWS secrets to remove static credentials.</a:t>
            </a:r>
          </a:p>
          <a:p>
            <a:pPr marL="0" lvl="2" indent="0" algn="just" fontAlgn="base">
              <a:spcAft>
                <a:spcPts val="0"/>
              </a:spcAft>
              <a:buNone/>
              <a:defRPr/>
            </a:pPr>
            <a:r>
              <a:rPr lang="en-US" sz="880" b="0" i="0" dirty="0">
                <a:solidFill>
                  <a:srgbClr val="000000"/>
                </a:solidFill>
                <a:effectLst/>
                <a:ea typeface="Verdana" panose="020B0604030504040204" pitchFamily="34" charset="0"/>
              </a:rPr>
              <a:t>•Introduced Jinja templating for DAG generation which reduced boilerplate and implemented alternative triggers to the curl command for continuous integration pipelines.</a:t>
            </a:r>
          </a:p>
          <a:p>
            <a:pPr marL="0" lvl="2" indent="0" algn="just" fontAlgn="base">
              <a:spcAft>
                <a:spcPts val="0"/>
              </a:spcAft>
              <a:buNone/>
              <a:defRPr/>
            </a:pPr>
            <a:r>
              <a:rPr lang="en-US" sz="880" b="0" i="0" dirty="0">
                <a:solidFill>
                  <a:srgbClr val="000000"/>
                </a:solidFill>
                <a:effectLst/>
                <a:ea typeface="Verdana" panose="020B0604030504040204" pitchFamily="34" charset="0"/>
              </a:rPr>
              <a:t>•Delivered historical and incremental ingestion from Greenplum to </a:t>
            </a:r>
            <a:r>
              <a:rPr lang="en-US" sz="880" b="0" i="0" dirty="0" err="1">
                <a:solidFill>
                  <a:srgbClr val="000000"/>
                </a:solidFill>
                <a:effectLst/>
                <a:ea typeface="Verdana" panose="020B0604030504040204" pitchFamily="34" charset="0"/>
              </a:rPr>
              <a:t>Dremio</a:t>
            </a:r>
            <a:r>
              <a:rPr lang="en-US" sz="880" b="0" i="0" dirty="0">
                <a:solidFill>
                  <a:srgbClr val="000000"/>
                </a:solidFill>
                <a:effectLst/>
                <a:ea typeface="Verdana" panose="020B0604030504040204" pitchFamily="34" charset="0"/>
              </a:rPr>
              <a:t> with Iceberg and Nessie with change detection and </a:t>
            </a:r>
            <a:r>
              <a:rPr lang="en-US" sz="880" b="0" i="0" dirty="0" err="1">
                <a:solidFill>
                  <a:srgbClr val="000000"/>
                </a:solidFill>
                <a:effectLst/>
                <a:ea typeface="Verdana" panose="020B0604030504040204" pitchFamily="34" charset="0"/>
              </a:rPr>
              <a:t>upserts</a:t>
            </a:r>
            <a:r>
              <a:rPr lang="en-US" sz="880" b="0" i="0" dirty="0">
                <a:solidFill>
                  <a:srgbClr val="000000"/>
                </a:solidFill>
                <a:effectLst/>
                <a:ea typeface="Verdana" panose="020B0604030504040204" pitchFamily="34" charset="0"/>
              </a:rPr>
              <a:t>.</a:t>
            </a:r>
          </a:p>
          <a:p>
            <a:pPr marL="0" lvl="2" indent="0" algn="just" fontAlgn="base">
              <a:spcAft>
                <a:spcPts val="0"/>
              </a:spcAft>
              <a:buNone/>
              <a:defRPr/>
            </a:pPr>
            <a:r>
              <a:rPr lang="en-US" sz="880" b="0" i="0" dirty="0">
                <a:solidFill>
                  <a:srgbClr val="000000"/>
                </a:solidFill>
                <a:effectLst/>
                <a:ea typeface="Verdana" panose="020B0604030504040204" pitchFamily="34" charset="0"/>
              </a:rPr>
              <a:t>•Added operational features such as </a:t>
            </a:r>
            <a:r>
              <a:rPr lang="en-US" sz="880" b="0" i="0" dirty="0" err="1">
                <a:solidFill>
                  <a:srgbClr val="000000"/>
                </a:solidFill>
                <a:effectLst/>
                <a:ea typeface="Verdana" panose="020B0604030504040204" pitchFamily="34" charset="0"/>
              </a:rPr>
              <a:t>Dremio</a:t>
            </a:r>
            <a:r>
              <a:rPr lang="en-US" sz="880" b="0" i="0" dirty="0">
                <a:solidFill>
                  <a:srgbClr val="000000"/>
                </a:solidFill>
                <a:effectLst/>
                <a:ea typeface="Verdana" panose="020B0604030504040204" pitchFamily="34" charset="0"/>
              </a:rPr>
              <a:t> quality validations, Amazon S3 object tagging for new versus processed files, and wrote the ingested file name to the ABC tracking table.</a:t>
            </a:r>
          </a:p>
          <a:p>
            <a:pPr marL="0" lvl="2" indent="0" algn="just" fontAlgn="base">
              <a:spcAft>
                <a:spcPts val="0"/>
              </a:spcAft>
              <a:buNone/>
              <a:defRPr/>
            </a:pPr>
            <a:r>
              <a:rPr lang="en-US" sz="880" b="0" i="0" dirty="0">
                <a:solidFill>
                  <a:srgbClr val="000000"/>
                </a:solidFill>
                <a:effectLst/>
                <a:ea typeface="Verdana" panose="020B0604030504040204" pitchFamily="34" charset="0"/>
              </a:rPr>
              <a:t>•Created a central data contract registry and linter with pre commit validation and code generation templates for standard ingestion patterns and </a:t>
            </a:r>
            <a:r>
              <a:rPr lang="en-US" sz="880" b="0" i="0" dirty="0" err="1">
                <a:solidFill>
                  <a:srgbClr val="000000"/>
                </a:solidFill>
                <a:effectLst/>
                <a:ea typeface="Verdana" panose="020B0604030504040204" pitchFamily="34" charset="0"/>
              </a:rPr>
              <a:t>dbt</a:t>
            </a:r>
            <a:r>
              <a:rPr lang="en-US" sz="880" b="0" i="0" dirty="0">
                <a:solidFill>
                  <a:srgbClr val="000000"/>
                </a:solidFill>
                <a:effectLst/>
                <a:ea typeface="Verdana" panose="020B0604030504040204" pitchFamily="34" charset="0"/>
              </a:rPr>
              <a:t> scaffolding.</a:t>
            </a:r>
          </a:p>
          <a:p>
            <a:pPr marL="0" lvl="2" indent="0" algn="just" fontAlgn="base">
              <a:spcAft>
                <a:spcPts val="0"/>
              </a:spcAft>
              <a:buNone/>
              <a:defRPr/>
            </a:pPr>
            <a:r>
              <a:rPr lang="en-US" sz="880" b="0" i="0" dirty="0">
                <a:solidFill>
                  <a:srgbClr val="000000"/>
                </a:solidFill>
                <a:effectLst/>
                <a:ea typeface="Verdana" panose="020B0604030504040204" pitchFamily="34" charset="0"/>
              </a:rPr>
              <a:t>Tech: Airflow, </a:t>
            </a:r>
            <a:r>
              <a:rPr lang="en-US" sz="880" b="0" i="0" dirty="0" err="1">
                <a:solidFill>
                  <a:srgbClr val="000000"/>
                </a:solidFill>
                <a:effectLst/>
                <a:ea typeface="Verdana" panose="020B0604030504040204" pitchFamily="34" charset="0"/>
              </a:rPr>
              <a:t>KubernetesPodOperator</a:t>
            </a:r>
            <a:r>
              <a:rPr lang="en-US" sz="880" b="0" i="0" dirty="0">
                <a:solidFill>
                  <a:srgbClr val="000000"/>
                </a:solidFill>
                <a:effectLst/>
                <a:ea typeface="Verdana" panose="020B0604030504040204" pitchFamily="34" charset="0"/>
              </a:rPr>
              <a:t>, </a:t>
            </a:r>
            <a:r>
              <a:rPr lang="en-US" sz="880" b="0" i="0" dirty="0" err="1">
                <a:solidFill>
                  <a:srgbClr val="000000"/>
                </a:solidFill>
                <a:effectLst/>
                <a:ea typeface="Verdana" panose="020B0604030504040204" pitchFamily="34" charset="0"/>
              </a:rPr>
              <a:t>dbt</a:t>
            </a:r>
            <a:r>
              <a:rPr lang="en-US" sz="880" b="0" i="0" dirty="0">
                <a:solidFill>
                  <a:srgbClr val="000000"/>
                </a:solidFill>
                <a:effectLst/>
                <a:ea typeface="Verdana" panose="020B0604030504040204" pitchFamily="34" charset="0"/>
              </a:rPr>
              <a:t>, Jinja, AWS S3, </a:t>
            </a:r>
            <a:r>
              <a:rPr lang="en-US" sz="880" b="0" i="0" dirty="0" err="1">
                <a:solidFill>
                  <a:srgbClr val="000000"/>
                </a:solidFill>
                <a:effectLst/>
                <a:ea typeface="Verdana" panose="020B0604030504040204" pitchFamily="34" charset="0"/>
              </a:rPr>
              <a:t>Dremio</a:t>
            </a:r>
            <a:r>
              <a:rPr lang="en-US" sz="880" b="0" i="0" dirty="0">
                <a:solidFill>
                  <a:srgbClr val="000000"/>
                </a:solidFill>
                <a:effectLst/>
                <a:ea typeface="Verdana" panose="020B0604030504040204" pitchFamily="34" charset="0"/>
              </a:rPr>
              <a:t> with Iceberg and Nessie, Greenplum, </a:t>
            </a:r>
            <a:r>
              <a:rPr lang="en-US" sz="880" b="0" i="0" dirty="0" err="1">
                <a:solidFill>
                  <a:srgbClr val="000000"/>
                </a:solidFill>
                <a:effectLst/>
                <a:ea typeface="Verdana" panose="020B0604030504040204" pitchFamily="34" charset="0"/>
              </a:rPr>
              <a:t>PySpark</a:t>
            </a:r>
            <a:r>
              <a:rPr lang="en-US" sz="880" b="0" i="0" dirty="0">
                <a:solidFill>
                  <a:srgbClr val="000000"/>
                </a:solidFill>
                <a:effectLst/>
                <a:ea typeface="Verdana" panose="020B0604030504040204" pitchFamily="34" charset="0"/>
              </a:rPr>
              <a:t>, SQL, Docker, Amazon ECR.</a:t>
            </a:r>
          </a:p>
          <a:p>
            <a:pPr marL="0" lvl="2" indent="0" algn="just" fontAlgn="base">
              <a:spcAft>
                <a:spcPts val="0"/>
              </a:spcAft>
              <a:buNone/>
              <a:defRPr/>
            </a:pPr>
            <a:endParaRPr lang="en-US" sz="880" b="0" i="0" dirty="0">
              <a:solidFill>
                <a:srgbClr val="000000"/>
              </a:solidFill>
              <a:effectLst/>
              <a:ea typeface="Verdana" panose="020B0604030504040204" pitchFamily="34" charset="0"/>
            </a:endParaRPr>
          </a:p>
          <a:p>
            <a:pPr marL="0" lvl="2" indent="0" algn="just" fontAlgn="base">
              <a:spcAft>
                <a:spcPts val="0"/>
              </a:spcAft>
              <a:buNone/>
              <a:defRPr/>
            </a:pPr>
            <a:r>
              <a:rPr lang="en-US" sz="880" b="1" dirty="0">
                <a:solidFill>
                  <a:srgbClr val="000000"/>
                </a:solidFill>
              </a:rPr>
              <a:t>Enterprise GenAI Analytics Assistant — Eli Lilly (01/02/2025 – 30/05/2025)</a:t>
            </a:r>
          </a:p>
          <a:p>
            <a:pPr marL="0" lvl="2" algn="just" fontAlgn="base">
              <a:spcAft>
                <a:spcPts val="0"/>
              </a:spcAft>
              <a:defRPr/>
            </a:pPr>
            <a:r>
              <a:rPr lang="en-US" sz="880" dirty="0">
                <a:solidFill>
                  <a:srgbClr val="000000"/>
                </a:solidFill>
                <a:ea typeface="Verdana" panose="020B0604030504040204" pitchFamily="34" charset="0"/>
              </a:rPr>
              <a:t>•</a:t>
            </a:r>
            <a:r>
              <a:rPr lang="en-US" sz="880" dirty="0">
                <a:solidFill>
                  <a:srgbClr val="000000"/>
                </a:solidFill>
              </a:rPr>
              <a:t>Optimized the retrieval augmented generation pipeline with a Markdown splitter and generated about one hundred Markdown files from a structured Excel source to seed the knowledge base.</a:t>
            </a:r>
          </a:p>
          <a:p>
            <a:pPr marL="0" lvl="2" algn="just" fontAlgn="base">
              <a:spcAft>
                <a:spcPts val="0"/>
              </a:spcAft>
              <a:defRPr/>
            </a:pPr>
            <a:r>
              <a:rPr lang="en-US" sz="880" dirty="0">
                <a:solidFill>
                  <a:srgbClr val="000000"/>
                </a:solidFill>
              </a:rPr>
              <a:t>•Implemented an agentic workflow with a router, retriever, SQL agent, and summarizer; curated natural language to SQL examples in Amazon S3; attached page and document citations to every answer.</a:t>
            </a:r>
          </a:p>
          <a:p>
            <a:pPr marL="0" lvl="2" algn="just" fontAlgn="base">
              <a:spcAft>
                <a:spcPts val="0"/>
              </a:spcAft>
              <a:defRPr/>
            </a:pPr>
            <a:r>
              <a:rPr lang="en-US" sz="880" dirty="0">
                <a:solidFill>
                  <a:srgbClr val="000000"/>
                </a:solidFill>
              </a:rPr>
              <a:t>•Converted jump server refresh jobs to AWS Glue, scheduled with Airflow, and orchestrated Power BI dataset refresh through the REST API.</a:t>
            </a:r>
          </a:p>
          <a:p>
            <a:pPr marL="0" lvl="2" algn="just" fontAlgn="base">
              <a:spcAft>
                <a:spcPts val="0"/>
              </a:spcAft>
              <a:defRPr/>
            </a:pPr>
            <a:r>
              <a:rPr lang="en-US" sz="880" dirty="0">
                <a:solidFill>
                  <a:srgbClr val="000000"/>
                </a:solidFill>
              </a:rPr>
              <a:t>•Built an offline evaluation harness with golden sets and factuality checks to measure answer quality.</a:t>
            </a:r>
          </a:p>
          <a:p>
            <a:pPr marL="0" lvl="2" algn="just" fontAlgn="base">
              <a:spcAft>
                <a:spcPts val="0"/>
              </a:spcAft>
              <a:defRPr/>
            </a:pPr>
            <a:r>
              <a:rPr lang="en-US" sz="880" dirty="0">
                <a:solidFill>
                  <a:srgbClr val="000000"/>
                </a:solidFill>
              </a:rPr>
              <a:t>•Implemented cost controls including token budgeting, request batching, and cache warmers to reduce latency and cost per answer.</a:t>
            </a:r>
          </a:p>
          <a:p>
            <a:pPr marL="0" lvl="2" algn="just" fontAlgn="base">
              <a:spcAft>
                <a:spcPts val="0"/>
              </a:spcAft>
              <a:defRPr/>
            </a:pPr>
            <a:r>
              <a:rPr lang="en-US" sz="880" dirty="0">
                <a:solidFill>
                  <a:srgbClr val="000000"/>
                </a:solidFill>
              </a:rPr>
              <a:t>•Operationalized vector index maintenance with scheduled embedding, deduplication, and drift checks.</a:t>
            </a:r>
          </a:p>
          <a:p>
            <a:pPr marL="0" lvl="2" algn="just" fontAlgn="base">
              <a:spcAft>
                <a:spcPts val="0"/>
              </a:spcAft>
              <a:defRPr/>
            </a:pPr>
            <a:r>
              <a:rPr lang="en-US" sz="880" dirty="0">
                <a:solidFill>
                  <a:srgbClr val="000000"/>
                </a:solidFill>
              </a:rPr>
              <a:t>Tech: Python, </a:t>
            </a:r>
            <a:r>
              <a:rPr lang="en-US" sz="880" dirty="0" err="1">
                <a:solidFill>
                  <a:srgbClr val="000000"/>
                </a:solidFill>
              </a:rPr>
              <a:t>PySpark</a:t>
            </a:r>
            <a:r>
              <a:rPr lang="en-US" sz="880" dirty="0">
                <a:solidFill>
                  <a:srgbClr val="000000"/>
                </a:solidFill>
              </a:rPr>
              <a:t>, vector database, Markdown tooling, AWS S3, AWS Glue, AWS Lambda, Amazon Athena, Power BI REST API, Airflow, Docker, Amazon ECR, Kubernetes, SQL.</a:t>
            </a:r>
          </a:p>
          <a:p>
            <a:pPr marL="0" lvl="2" indent="0" algn="just" fontAlgn="base">
              <a:spcAft>
                <a:spcPts val="0"/>
              </a:spcAft>
              <a:buNone/>
              <a:defRPr/>
            </a:pPr>
            <a:endParaRPr lang="en-US" sz="870" b="0" i="0" dirty="0">
              <a:solidFill>
                <a:srgbClr val="000000"/>
              </a:solidFill>
              <a:effectLst/>
              <a:ea typeface="Verdana" panose="020B0604030504040204" pitchFamily="34" charset="0"/>
            </a:endParaRPr>
          </a:p>
          <a:p>
            <a:pPr marL="0" lvl="2" indent="0" algn="just" fontAlgn="base">
              <a:spcAft>
                <a:spcPts val="0"/>
              </a:spcAft>
              <a:buNone/>
              <a:defRPr/>
            </a:pPr>
            <a:endParaRPr lang="en-US" sz="870" dirty="0">
              <a:solidFill>
                <a:prstClr val="black"/>
              </a:solidFill>
              <a:ea typeface="Verdana" panose="020B0604030504040204" pitchFamily="34" charset="0"/>
              <a:cs typeface="Calibri" panose="020F0502020204030204" pitchFamily="34" charset="0"/>
            </a:endParaRPr>
          </a:p>
          <a:p>
            <a:pPr marL="0" lvl="2" indent="0" algn="just" fontAlgn="base">
              <a:spcAft>
                <a:spcPts val="0"/>
              </a:spcAft>
              <a:buNone/>
              <a:defRPr/>
            </a:pPr>
            <a:endParaRPr lang="en-US" sz="870" dirty="0">
              <a:solidFill>
                <a:srgbClr val="000000"/>
              </a:solidFill>
            </a:endParaRPr>
          </a:p>
        </p:txBody>
      </p:sp>
      <p:sp>
        <p:nvSpPr>
          <p:cNvPr id="6" name="Rectangle 7"/>
          <p:cNvSpPr>
            <a:spLocks noChangeArrowheads="1"/>
          </p:cNvSpPr>
          <p:nvPr/>
        </p:nvSpPr>
        <p:spPr bwMode="auto">
          <a:xfrm>
            <a:off x="1881051" y="9878"/>
            <a:ext cx="3766493" cy="6848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lIns="72000" tIns="72000" rIns="72000" bIns="72000">
            <a:noAutofit/>
          </a:bodyPr>
          <a:lstStyle/>
          <a:p>
            <a:pPr marL="0" marR="0" lvl="0" indent="0" algn="just" defTabSz="911225" rtl="0" eaLnBrk="0" fontAlgn="auto" latinLnBrk="0" hangingPunct="0">
              <a:lnSpc>
                <a:spcPct val="100000"/>
              </a:lnSpc>
              <a:spcBef>
                <a:spcPts val="0"/>
              </a:spcBef>
              <a:spcAft>
                <a:spcPts val="600"/>
              </a:spcAft>
              <a:buClrTx/>
              <a:buSzTx/>
              <a:buFontTx/>
              <a:buNone/>
              <a:tabLst/>
              <a:defRPr/>
            </a:pPr>
            <a:r>
              <a:rPr kumimoji="0" lang="en-ZA" sz="1000" b="1" i="0" u="none" strike="noStrike" kern="1200" cap="none" spc="0" normalizeH="0" baseline="0" noProof="0" dirty="0">
                <a:ln>
                  <a:noFill/>
                </a:ln>
                <a:solidFill>
                  <a:srgbClr val="5B9BD5"/>
                </a:solidFill>
                <a:effectLst/>
                <a:uLnTx/>
                <a:uFillTx/>
                <a:ea typeface="+mn-ea"/>
                <a:cs typeface="+mn-cs"/>
              </a:rPr>
              <a:t>Professional Background</a:t>
            </a:r>
          </a:p>
          <a:p>
            <a:pPr marR="0" lvl="0" indent="0" algn="just" fontAlgn="base">
              <a:lnSpc>
                <a:spcPct val="100000"/>
              </a:lnSpc>
              <a:spcBef>
                <a:spcPct val="50000"/>
              </a:spcBef>
              <a:spcAft>
                <a:spcPct val="0"/>
              </a:spcAft>
              <a:buClr>
                <a:srgbClr val="000000"/>
              </a:buClr>
              <a:buSzTx/>
              <a:buFont typeface="Wingdings" pitchFamily="2" charset="2"/>
              <a:buNone/>
              <a:tabLst/>
              <a:defRPr/>
            </a:pPr>
            <a:r>
              <a:rPr lang="en-US" sz="1000" dirty="0">
                <a:ea typeface="Verdana" panose="020B0604030504040204" pitchFamily="34" charset="0"/>
                <a:cs typeface="Times New Roman" panose="02020603050405020304" pitchFamily="18" charset="0"/>
              </a:rPr>
              <a:t>Archito is an IT professional with 5 years of experience in Data </a:t>
            </a:r>
            <a:r>
              <a:rPr lang="en-US" sz="1000" dirty="0" err="1">
                <a:ea typeface="Verdana" panose="020B0604030504040204" pitchFamily="34" charset="0"/>
                <a:cs typeface="Times New Roman" panose="02020603050405020304" pitchFamily="18" charset="0"/>
              </a:rPr>
              <a:t>Analytics,Data</a:t>
            </a:r>
            <a:r>
              <a:rPr lang="en-US" sz="1000" dirty="0">
                <a:ea typeface="Verdana" panose="020B0604030504040204" pitchFamily="34" charset="0"/>
                <a:cs typeface="Times New Roman" panose="02020603050405020304" pitchFamily="18" charset="0"/>
              </a:rPr>
              <a:t> warehousing &amp; Cloud Computing. His experience includes defining solution architecture across ETL Development, API Creation, Data Analytics &amp; Visualization with focus on solving business problems He has also worked in the multiple business sectors, gathering various domain knowledges. Archito can handle complex project management and coordination work very efficiently to deliver the best results</a:t>
            </a:r>
          </a:p>
          <a:p>
            <a:pPr marL="0" marR="0" lvl="1" indent="0" algn="just" defTabSz="762000" rtl="0" eaLnBrk="1" fontAlgn="base" latinLnBrk="0" hangingPunct="1">
              <a:lnSpc>
                <a:spcPct val="100000"/>
              </a:lnSpc>
              <a:spcBef>
                <a:spcPts val="600"/>
              </a:spcBef>
              <a:spcAft>
                <a:spcPct val="0"/>
              </a:spcAft>
              <a:buClr>
                <a:srgbClr val="0C2D83"/>
              </a:buClr>
              <a:buSzTx/>
              <a:buFontTx/>
              <a:buNone/>
              <a:tabLst/>
              <a:defRPr/>
            </a:pPr>
            <a:endParaRPr lang="en-US" sz="1000" b="1" dirty="0">
              <a:solidFill>
                <a:srgbClr val="000000"/>
              </a:solidFill>
            </a:endParaRPr>
          </a:p>
          <a:p>
            <a:pPr marL="0" lvl="1" algn="just" defTabSz="762000" fontAlgn="base">
              <a:spcBef>
                <a:spcPts val="600"/>
              </a:spcBef>
              <a:spcAft>
                <a:spcPct val="0"/>
              </a:spcAft>
              <a:buClr>
                <a:srgbClr val="0C2D83"/>
              </a:buClr>
              <a:defRPr/>
            </a:pPr>
            <a:r>
              <a:rPr kumimoji="0" lang="en-ZA" sz="1000" b="1" i="0" u="none" strike="noStrike" kern="1200" cap="none" spc="0" normalizeH="0" baseline="0" noProof="0" dirty="0">
                <a:ln>
                  <a:noFill/>
                </a:ln>
                <a:solidFill>
                  <a:srgbClr val="5B9BD5"/>
                </a:solidFill>
                <a:effectLst/>
                <a:uLnTx/>
                <a:uFillTx/>
                <a:ea typeface="+mn-ea"/>
                <a:cs typeface="+mn-cs"/>
              </a:rPr>
              <a:t>Education</a:t>
            </a:r>
          </a:p>
          <a:p>
            <a:pPr algn="just">
              <a:defRPr/>
            </a:pPr>
            <a:r>
              <a:rPr lang="en-ZA" sz="1000" dirty="0">
                <a:solidFill>
                  <a:prstClr val="black"/>
                </a:solidFill>
              </a:rPr>
              <a:t>B Tech</a:t>
            </a:r>
            <a:r>
              <a:rPr kumimoji="0" lang="en-ZA" sz="1000" b="0" i="0" u="none" strike="noStrike" kern="1200" cap="none" spc="0" normalizeH="0" baseline="0" noProof="0" dirty="0">
                <a:ln>
                  <a:noFill/>
                </a:ln>
                <a:solidFill>
                  <a:prstClr val="black"/>
                </a:solidFill>
                <a:effectLst/>
                <a:uLnTx/>
                <a:uFillTx/>
                <a:ea typeface="+mn-ea"/>
                <a:cs typeface="+mn-cs"/>
              </a:rPr>
              <a:t> –  </a:t>
            </a:r>
            <a:r>
              <a:rPr lang="en-US" sz="1000" b="0" dirty="0">
                <a:effectLst/>
                <a:ea typeface="Verdana" panose="020B0604030504040204" pitchFamily="34" charset="0"/>
                <a:cs typeface="Times New Roman" panose="02020603050405020304" pitchFamily="18" charset="0"/>
              </a:rPr>
              <a:t>Electrical and Electronics Engineering from Academy of Technology Kolkata 2017</a:t>
            </a:r>
            <a:endParaRPr kumimoji="0" lang="en-ZA" sz="1000" b="0" i="0" u="none" strike="noStrike" kern="1200" cap="none" spc="0" normalizeH="0" baseline="0" noProof="0" dirty="0">
              <a:ln>
                <a:noFill/>
              </a:ln>
              <a:solidFill>
                <a:prstClr val="black"/>
              </a:solidFill>
              <a:effectLst/>
              <a:uLnTx/>
              <a:uFillTx/>
              <a:ea typeface="+mn-ea"/>
              <a:cs typeface="+mn-cs"/>
            </a:endParaRPr>
          </a:p>
          <a:p>
            <a:pPr marR="0" lvl="0" algn="just" defTabSz="914400" rtl="0" eaLnBrk="0" fontAlgn="auto" latinLnBrk="0" hangingPunct="0">
              <a:lnSpc>
                <a:spcPts val="960"/>
              </a:lnSpc>
              <a:spcBef>
                <a:spcPts val="0"/>
              </a:spcBef>
              <a:spcAft>
                <a:spcPts val="0"/>
              </a:spcAft>
              <a:buClrTx/>
              <a:buSzTx/>
              <a:tabLst/>
              <a:defRPr/>
            </a:pPr>
            <a:endParaRPr kumimoji="0" lang="en-ZA" sz="1000" b="0" i="0" u="none" strike="noStrike" kern="1200" cap="none" spc="0" normalizeH="0" baseline="0" noProof="0" dirty="0">
              <a:ln>
                <a:noFill/>
              </a:ln>
              <a:solidFill>
                <a:prstClr val="black"/>
              </a:solidFill>
              <a:effectLst/>
              <a:uLnTx/>
              <a:uFillTx/>
              <a:ea typeface="+mn-ea"/>
              <a:cs typeface="+mn-cs"/>
            </a:endParaRPr>
          </a:p>
          <a:p>
            <a:pPr marR="0" lvl="0" algn="just" defTabSz="914400" rtl="0" eaLnBrk="0" fontAlgn="auto" latinLnBrk="0" hangingPunct="0">
              <a:lnSpc>
                <a:spcPts val="960"/>
              </a:lnSpc>
              <a:spcBef>
                <a:spcPts val="0"/>
              </a:spcBef>
              <a:spcAft>
                <a:spcPts val="0"/>
              </a:spcAft>
              <a:buClrTx/>
              <a:buSzTx/>
              <a:tabLst/>
              <a:defRPr/>
            </a:pPr>
            <a:endParaRPr kumimoji="0" lang="en-ZA" sz="1000" b="0" i="0" u="none" strike="noStrike" kern="1200" cap="none" spc="0" normalizeH="0" baseline="0" noProof="0" dirty="0">
              <a:ln>
                <a:noFill/>
              </a:ln>
              <a:solidFill>
                <a:prstClr val="black"/>
              </a:solidFill>
              <a:effectLst/>
              <a:uLnTx/>
              <a:uFillTx/>
              <a:ea typeface="+mn-ea"/>
              <a:cs typeface="+mn-cs"/>
            </a:endParaRPr>
          </a:p>
          <a:p>
            <a:pPr algn="just" rtl="0" fontAlgn="base"/>
            <a:r>
              <a:rPr lang="en-ZA" sz="1000" b="1" i="0" u="none" strike="noStrike" dirty="0">
                <a:solidFill>
                  <a:srgbClr val="5B9BD5"/>
                </a:solidFill>
                <a:effectLst/>
              </a:rPr>
              <a:t>Tools and Technology</a:t>
            </a:r>
            <a:r>
              <a:rPr lang="en-US" sz="1000" b="0" i="0" dirty="0">
                <a:solidFill>
                  <a:srgbClr val="000000"/>
                </a:solidFill>
                <a:effectLst/>
              </a:rPr>
              <a:t>​</a:t>
            </a:r>
            <a:r>
              <a:rPr lang="en-US" sz="1000" b="0" kern="0" dirty="0">
                <a:solidFill>
                  <a:prstClr val="black"/>
                </a:solidFill>
              </a:rPr>
              <a:t> </a:t>
            </a:r>
          </a:p>
          <a:p>
            <a:pPr marL="171450" lvl="1" indent="-171450" algn="just" eaLnBrk="0" hangingPunct="0">
              <a:spcBef>
                <a:spcPts val="488"/>
              </a:spcBef>
              <a:buClr>
                <a:srgbClr val="53565A"/>
              </a:buClr>
              <a:buSzPct val="70000"/>
              <a:buFont typeface="Arial" panose="020B0604020202020204" pitchFamily="34" charset="0"/>
              <a:buChar char="•"/>
              <a:defRPr/>
            </a:pPr>
            <a:r>
              <a:rPr lang="en-US" sz="1000" b="0" kern="0" dirty="0" err="1">
                <a:solidFill>
                  <a:prstClr val="black"/>
                </a:solidFill>
              </a:rPr>
              <a:t>GenAI</a:t>
            </a:r>
            <a:r>
              <a:rPr lang="en-US" sz="1000" b="0" kern="0" dirty="0">
                <a:solidFill>
                  <a:prstClr val="black"/>
                </a:solidFill>
              </a:rPr>
              <a:t>, Python, </a:t>
            </a:r>
            <a:r>
              <a:rPr lang="en-US" sz="1000" b="0" kern="0" dirty="0" err="1">
                <a:solidFill>
                  <a:prstClr val="black"/>
                </a:solidFill>
              </a:rPr>
              <a:t>PySpark</a:t>
            </a:r>
            <a:endParaRPr lang="en-US" sz="1000" b="0" kern="0" dirty="0">
              <a:solidFill>
                <a:prstClr val="black"/>
              </a:solidFill>
            </a:endParaRPr>
          </a:p>
          <a:p>
            <a:pPr marL="171450" lvl="1" indent="-171450" algn="just" defTabSz="914400" eaLnBrk="0" hangingPunct="0">
              <a:spcBef>
                <a:spcPts val="488"/>
              </a:spcBef>
              <a:spcAft>
                <a:spcPts val="0"/>
              </a:spcAft>
              <a:buClr>
                <a:srgbClr val="53565A"/>
              </a:buClr>
              <a:buSzPct val="70000"/>
              <a:buFont typeface="Arial" panose="020B0604020202020204" pitchFamily="34" charset="0"/>
              <a:buChar char="•"/>
              <a:defRPr/>
            </a:pPr>
            <a:r>
              <a:rPr lang="en-US" sz="1000" b="0" kern="0" dirty="0">
                <a:solidFill>
                  <a:prstClr val="black"/>
                </a:solidFill>
              </a:rPr>
              <a:t>SQL,SSMS, PostgreSQL, MongoDB, </a:t>
            </a:r>
            <a:r>
              <a:rPr lang="en-US" sz="1000" b="0" kern="0" dirty="0" err="1">
                <a:solidFill>
                  <a:prstClr val="black"/>
                </a:solidFill>
              </a:rPr>
              <a:t>VectorDB</a:t>
            </a:r>
            <a:r>
              <a:rPr lang="en-US" sz="1000" b="0" kern="0" dirty="0">
                <a:solidFill>
                  <a:prstClr val="black"/>
                </a:solidFill>
              </a:rPr>
              <a:t> </a:t>
            </a:r>
          </a:p>
          <a:p>
            <a:pPr marL="171450" lvl="1" indent="-171450" algn="just" defTabSz="914400" eaLnBrk="0" hangingPunct="0">
              <a:spcBef>
                <a:spcPts val="488"/>
              </a:spcBef>
              <a:spcAft>
                <a:spcPts val="0"/>
              </a:spcAft>
              <a:buClr>
                <a:srgbClr val="53565A"/>
              </a:buClr>
              <a:buSzPct val="70000"/>
              <a:buFont typeface="Arial" panose="020B0604020202020204" pitchFamily="34" charset="0"/>
              <a:buChar char="•"/>
              <a:defRPr/>
            </a:pPr>
            <a:r>
              <a:rPr lang="en-US" sz="1000" b="0" kern="0" dirty="0" err="1">
                <a:solidFill>
                  <a:prstClr val="black"/>
                </a:solidFill>
              </a:rPr>
              <a:t>Dremio</a:t>
            </a:r>
            <a:r>
              <a:rPr lang="en-US" sz="1000" b="0" kern="0" dirty="0">
                <a:solidFill>
                  <a:prstClr val="black"/>
                </a:solidFill>
              </a:rPr>
              <a:t>, Snowflake, Airflow, CI/CD, </a:t>
            </a:r>
            <a:r>
              <a:rPr lang="en-US" sz="1000" b="0" i="0" dirty="0">
                <a:solidFill>
                  <a:srgbClr val="000000"/>
                </a:solidFill>
                <a:effectLst/>
                <a:ea typeface="Verdana" panose="020B0604030504040204" pitchFamily="34" charset="0"/>
              </a:rPr>
              <a:t>Kubernetes</a:t>
            </a:r>
            <a:endParaRPr lang="en-US" sz="1000" b="0" kern="0" dirty="0">
              <a:solidFill>
                <a:prstClr val="black"/>
              </a:solidFill>
            </a:endParaRPr>
          </a:p>
          <a:p>
            <a:pPr marL="171450" lvl="1" indent="-171450" algn="just" defTabSz="914400" eaLnBrk="0" hangingPunct="0">
              <a:spcBef>
                <a:spcPts val="488"/>
              </a:spcBef>
              <a:spcAft>
                <a:spcPts val="0"/>
              </a:spcAft>
              <a:buClr>
                <a:srgbClr val="53565A"/>
              </a:buClr>
              <a:buSzPct val="70000"/>
              <a:buFont typeface="Arial" panose="020B0604020202020204" pitchFamily="34" charset="0"/>
              <a:buChar char="•"/>
              <a:defRPr/>
            </a:pPr>
            <a:r>
              <a:rPr lang="en-US" sz="1000" b="0" kern="0" dirty="0">
                <a:solidFill>
                  <a:prstClr val="black"/>
                </a:solidFill>
              </a:rPr>
              <a:t>Tableau , </a:t>
            </a:r>
            <a:r>
              <a:rPr lang="en-US" sz="1000" b="0" kern="0" dirty="0" err="1">
                <a:solidFill>
                  <a:prstClr val="black"/>
                </a:solidFill>
              </a:rPr>
              <a:t>PowerBI</a:t>
            </a:r>
            <a:endParaRPr lang="en-US" sz="1000" b="0" kern="0" dirty="0">
              <a:solidFill>
                <a:prstClr val="black"/>
              </a:solidFill>
            </a:endParaRPr>
          </a:p>
          <a:p>
            <a:pPr marL="171450" lvl="1" indent="-171450" algn="just" defTabSz="914400" eaLnBrk="0" hangingPunct="0">
              <a:spcBef>
                <a:spcPts val="488"/>
              </a:spcBef>
              <a:spcAft>
                <a:spcPts val="0"/>
              </a:spcAft>
              <a:buClr>
                <a:srgbClr val="53565A"/>
              </a:buClr>
              <a:buSzPct val="70000"/>
              <a:buFont typeface="Arial" panose="020B0604020202020204" pitchFamily="34" charset="0"/>
              <a:buChar char="•"/>
              <a:defRPr/>
            </a:pPr>
            <a:r>
              <a:rPr lang="en-US" sz="1000" b="0" kern="0" dirty="0">
                <a:solidFill>
                  <a:prstClr val="black"/>
                </a:solidFill>
              </a:rPr>
              <a:t>AWS (S3, Lambda, glue, EMR )</a:t>
            </a:r>
          </a:p>
          <a:p>
            <a:pPr marL="171450" lvl="1" indent="-171450" algn="just" defTabSz="914400" eaLnBrk="0" hangingPunct="0">
              <a:spcBef>
                <a:spcPts val="488"/>
              </a:spcBef>
              <a:spcAft>
                <a:spcPts val="0"/>
              </a:spcAft>
              <a:buClr>
                <a:srgbClr val="53565A"/>
              </a:buClr>
              <a:buSzPct val="70000"/>
              <a:buFont typeface="Arial" panose="020B0604020202020204" pitchFamily="34" charset="0"/>
              <a:buChar char="•"/>
              <a:defRPr/>
            </a:pPr>
            <a:r>
              <a:rPr lang="en-US" sz="1000" b="0" kern="0" dirty="0">
                <a:solidFill>
                  <a:prstClr val="black"/>
                </a:solidFill>
              </a:rPr>
              <a:t>Azure </a:t>
            </a:r>
            <a:r>
              <a:rPr lang="en-US" sz="1000" b="0" kern="0" dirty="0" err="1">
                <a:solidFill>
                  <a:prstClr val="black"/>
                </a:solidFill>
              </a:rPr>
              <a:t>DataBricks</a:t>
            </a:r>
            <a:endParaRPr lang="en-US" sz="1000" b="0" kern="0" dirty="0">
              <a:solidFill>
                <a:prstClr val="black"/>
              </a:solidFill>
            </a:endParaRPr>
          </a:p>
          <a:p>
            <a:pPr marL="171450" lvl="1" indent="-171450" algn="just" defTabSz="914400" eaLnBrk="0" hangingPunct="0">
              <a:spcBef>
                <a:spcPts val="488"/>
              </a:spcBef>
              <a:spcAft>
                <a:spcPts val="0"/>
              </a:spcAft>
              <a:buClr>
                <a:srgbClr val="53565A"/>
              </a:buClr>
              <a:buSzPct val="70000"/>
              <a:buFont typeface="Arial" panose="020B0604020202020204" pitchFamily="34" charset="0"/>
              <a:buChar char="•"/>
              <a:defRPr/>
            </a:pPr>
            <a:r>
              <a:rPr lang="en-US" sz="1000" b="0" kern="0" dirty="0">
                <a:solidFill>
                  <a:prstClr val="black"/>
                </a:solidFill>
              </a:rPr>
              <a:t>Performance Tuning</a:t>
            </a:r>
          </a:p>
          <a:p>
            <a:pPr marL="171450" lvl="1" indent="-171450" algn="just" defTabSz="914400" eaLnBrk="0" hangingPunct="0">
              <a:spcBef>
                <a:spcPts val="488"/>
              </a:spcBef>
              <a:spcAft>
                <a:spcPts val="0"/>
              </a:spcAft>
              <a:buClr>
                <a:srgbClr val="53565A"/>
              </a:buClr>
              <a:buSzPct val="70000"/>
              <a:buFont typeface="Arial" panose="020B0604020202020204" pitchFamily="34" charset="0"/>
              <a:buChar char="•"/>
              <a:defRPr/>
            </a:pPr>
            <a:r>
              <a:rPr lang="en-US" sz="1000" b="0" kern="0" dirty="0">
                <a:solidFill>
                  <a:prstClr val="black"/>
                </a:solidFill>
              </a:rPr>
              <a:t>Data Analysis</a:t>
            </a:r>
          </a:p>
          <a:p>
            <a:pPr marL="0" marR="0" lvl="0" indent="-171450" algn="just" defTabSz="911225" rtl="0" eaLnBrk="0" fontAlgn="auto" latinLnBrk="0" hangingPunct="0">
              <a:lnSpc>
                <a:spcPct val="100000"/>
              </a:lnSpc>
              <a:spcBef>
                <a:spcPts val="600"/>
              </a:spcBef>
              <a:spcAft>
                <a:spcPts val="600"/>
              </a:spcAft>
              <a:buClrTx/>
              <a:buSzTx/>
              <a:buFontTx/>
              <a:buNone/>
              <a:tabLst/>
              <a:defRPr/>
            </a:pPr>
            <a:r>
              <a:rPr kumimoji="0" lang="en-ZA" sz="1000" b="1" i="0" u="none" strike="noStrike" kern="1200" cap="none" spc="0" normalizeH="0" baseline="0" noProof="0" dirty="0">
                <a:ln>
                  <a:noFill/>
                </a:ln>
                <a:solidFill>
                  <a:srgbClr val="5B9BD5"/>
                </a:solidFill>
                <a:effectLst/>
                <a:uLnTx/>
                <a:uFillTx/>
                <a:ea typeface="+mn-ea"/>
                <a:cs typeface="+mn-cs"/>
              </a:rPr>
              <a:t>Key Clients</a:t>
            </a:r>
          </a:p>
          <a:p>
            <a:pPr marL="171450" indent="-171450" algn="just" defTabSz="914400" fontAlgn="t">
              <a:lnSpc>
                <a:spcPct val="150000"/>
              </a:lnSpc>
              <a:spcBef>
                <a:spcPts val="300"/>
              </a:spcBef>
              <a:spcAft>
                <a:spcPts val="300"/>
              </a:spcAft>
              <a:buSzTx/>
              <a:buFont typeface="Wingdings" panose="05000000000000000000" pitchFamily="2" charset="2"/>
              <a:buChar char="§"/>
              <a:defRPr/>
            </a:pPr>
            <a:r>
              <a:rPr lang="en-US" sz="1000" dirty="0">
                <a:solidFill>
                  <a:prstClr val="black"/>
                </a:solidFill>
                <a:ea typeface="Verdana" panose="020B0604030504040204" pitchFamily="34" charset="0"/>
              </a:rPr>
              <a:t>Banking</a:t>
            </a:r>
          </a:p>
          <a:p>
            <a:pPr marL="171450" indent="-171450" algn="just" defTabSz="914400" fontAlgn="t">
              <a:lnSpc>
                <a:spcPct val="150000"/>
              </a:lnSpc>
              <a:spcBef>
                <a:spcPts val="300"/>
              </a:spcBef>
              <a:spcAft>
                <a:spcPts val="300"/>
              </a:spcAft>
              <a:buSzTx/>
              <a:buFont typeface="Wingdings" panose="05000000000000000000" pitchFamily="2" charset="2"/>
              <a:buChar char="§"/>
              <a:defRPr/>
            </a:pPr>
            <a:r>
              <a:rPr lang="en-US" sz="1000" dirty="0">
                <a:solidFill>
                  <a:prstClr val="black"/>
                </a:solidFill>
                <a:ea typeface="Verdana" panose="020B0604030504040204" pitchFamily="34" charset="0"/>
              </a:rPr>
              <a:t>Agricultural</a:t>
            </a:r>
          </a:p>
          <a:p>
            <a:pPr marL="171450" indent="-171450" algn="just" defTabSz="914400" fontAlgn="t">
              <a:lnSpc>
                <a:spcPct val="150000"/>
              </a:lnSpc>
              <a:spcBef>
                <a:spcPts val="300"/>
              </a:spcBef>
              <a:spcAft>
                <a:spcPts val="300"/>
              </a:spcAft>
              <a:buSzTx/>
              <a:buFont typeface="Wingdings" panose="05000000000000000000" pitchFamily="2" charset="2"/>
              <a:buChar char="§"/>
              <a:defRPr/>
            </a:pPr>
            <a:r>
              <a:rPr lang="en-US" sz="1000" dirty="0">
                <a:solidFill>
                  <a:prstClr val="black"/>
                </a:solidFill>
                <a:ea typeface="Verdana" panose="020B0604030504040204" pitchFamily="34" charset="0"/>
              </a:rPr>
              <a:t>Pharmaceuticals </a:t>
            </a:r>
          </a:p>
          <a:p>
            <a:pPr marL="171450" indent="-171450" algn="just" defTabSz="914400" fontAlgn="t">
              <a:lnSpc>
                <a:spcPct val="150000"/>
              </a:lnSpc>
              <a:spcBef>
                <a:spcPts val="300"/>
              </a:spcBef>
              <a:spcAft>
                <a:spcPts val="300"/>
              </a:spcAft>
              <a:buSzTx/>
              <a:buFont typeface="Wingdings" panose="05000000000000000000" pitchFamily="2" charset="2"/>
              <a:buChar char="§"/>
              <a:defRPr/>
            </a:pPr>
            <a:r>
              <a:rPr lang="en-US" sz="1000" dirty="0">
                <a:solidFill>
                  <a:prstClr val="black"/>
                </a:solidFill>
                <a:ea typeface="Verdana" panose="020B0604030504040204" pitchFamily="34" charset="0"/>
              </a:rPr>
              <a:t>Manufacturing </a:t>
            </a:r>
          </a:p>
          <a:p>
            <a:pPr marL="171450" indent="-171450" algn="just" defTabSz="914400" fontAlgn="t">
              <a:lnSpc>
                <a:spcPct val="150000"/>
              </a:lnSpc>
              <a:spcBef>
                <a:spcPts val="300"/>
              </a:spcBef>
              <a:spcAft>
                <a:spcPts val="300"/>
              </a:spcAft>
              <a:buSzTx/>
              <a:buFont typeface="Wingdings" panose="05000000000000000000" pitchFamily="2" charset="2"/>
              <a:buChar char="§"/>
              <a:defRPr/>
            </a:pPr>
            <a:r>
              <a:rPr lang="en-US" sz="1000" dirty="0">
                <a:solidFill>
                  <a:prstClr val="black"/>
                </a:solidFill>
                <a:ea typeface="Verdana" panose="020B0604030504040204" pitchFamily="34" charset="0"/>
              </a:rPr>
              <a:t>Govt Business sector</a:t>
            </a:r>
          </a:p>
          <a:p>
            <a:pPr marL="85725" marR="0" lvl="0" indent="-85725" algn="just" defTabSz="914400" rtl="0" eaLnBrk="0" fontAlgn="auto" latinLnBrk="0" hangingPunct="0">
              <a:lnSpc>
                <a:spcPts val="960"/>
              </a:lnSpc>
              <a:spcBef>
                <a:spcPts val="0"/>
              </a:spcBef>
              <a:spcAft>
                <a:spcPts val="0"/>
              </a:spcAft>
              <a:buClrTx/>
              <a:buSzTx/>
              <a:buFont typeface="Arial" pitchFamily="34" charset="0"/>
              <a:buChar char="•"/>
              <a:tabLst/>
              <a:defRPr/>
            </a:pPr>
            <a:endParaRPr lang="en-ZA" sz="1000" dirty="0">
              <a:solidFill>
                <a:prstClr val="black"/>
              </a:solidFill>
            </a:endParaRPr>
          </a:p>
          <a:p>
            <a:pPr algn="just" rtl="0" fontAlgn="base"/>
            <a:r>
              <a:rPr lang="en-US" sz="1000" b="0" i="0" dirty="0">
                <a:solidFill>
                  <a:srgbClr val="000000"/>
                </a:solidFill>
                <a:effectLst/>
              </a:rPr>
              <a:t>​</a:t>
            </a:r>
          </a:p>
        </p:txBody>
      </p:sp>
      <p:sp>
        <p:nvSpPr>
          <p:cNvPr id="8" name="Rectangle 7"/>
          <p:cNvSpPr/>
          <p:nvPr/>
        </p:nvSpPr>
        <p:spPr>
          <a:xfrm>
            <a:off x="0" y="0"/>
            <a:ext cx="1881051" cy="6858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FFC000"/>
              </a:solidFill>
              <a:effectLst/>
              <a:uLnTx/>
              <a:uFillTx/>
              <a:latin typeface="Calibri" panose="020F0502020204030204"/>
              <a:ea typeface="+mn-ea"/>
              <a:cs typeface="+mn-cs"/>
            </a:endParaRPr>
          </a:p>
        </p:txBody>
      </p:sp>
      <p:sp>
        <p:nvSpPr>
          <p:cNvPr id="4" name="Rectangle 5"/>
          <p:cNvSpPr>
            <a:spLocks noChangeArrowheads="1"/>
          </p:cNvSpPr>
          <p:nvPr/>
        </p:nvSpPr>
        <p:spPr bwMode="auto">
          <a:xfrm>
            <a:off x="107373" y="2293479"/>
            <a:ext cx="1881051" cy="1392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dirty="0">
                <a:solidFill>
                  <a:prstClr val="white"/>
                </a:solidFill>
                <a:latin typeface="Calibri" panose="020F0502020204030204"/>
              </a:rPr>
              <a:t>Archito Biswas</a:t>
            </a:r>
            <a:endParaRPr kumimoji="0" lang="en-GB" sz="16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white"/>
                </a:solidFill>
                <a:effectLst/>
                <a:uLnTx/>
                <a:uFillTx/>
                <a:latin typeface="Calibri" panose="020F0502020204030204"/>
                <a:ea typeface="+mn-ea"/>
                <a:cs typeface="+mn-cs"/>
              </a:rPr>
              <a:t>Consultant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white"/>
                </a:solidFill>
                <a:effectLst/>
                <a:uLnTx/>
                <a:uFillTx/>
                <a:latin typeface="Calibri" panose="020F0502020204030204"/>
                <a:ea typeface="+mn-ea"/>
                <a:cs typeface="+mn-cs"/>
              </a:rPr>
              <a:t>Technology &amp; Transformation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050" b="1" dirty="0">
              <a:solidFill>
                <a:prstClr val="white"/>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latin typeface="Calibri" panose="020F0502020204030204"/>
                <a:ea typeface="+mn-ea"/>
                <a:cs typeface="+mn-cs"/>
              </a:rPr>
              <a:t>Total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50" b="1" dirty="0">
                <a:solidFill>
                  <a:prstClr val="white"/>
                </a:solidFill>
                <a:latin typeface="Calibri" panose="020F0502020204030204"/>
              </a:rPr>
              <a:t>5 years</a:t>
            </a:r>
            <a:endParaRPr kumimoji="0" lang="en-GB" sz="105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13F4A5FC-1871-57A3-591C-071E3B1D2566}"/>
              </a:ext>
            </a:extLst>
          </p:cNvPr>
          <p:cNvSpPr txBox="1"/>
          <p:nvPr/>
        </p:nvSpPr>
        <p:spPr>
          <a:xfrm>
            <a:off x="272143" y="729343"/>
            <a:ext cx="1338943" cy="1077218"/>
          </a:xfrm>
          <a:prstGeom prst="rect">
            <a:avLst/>
          </a:prstGeom>
          <a:noFill/>
        </p:spPr>
        <p:txBody>
          <a:bodyPr wrap="square" rtlCol="0">
            <a:spAutoFit/>
          </a:bodyPr>
          <a:lstStyle/>
          <a:p>
            <a:r>
              <a:rPr lang="en-US" sz="3200"/>
              <a:t>Your Photo</a:t>
            </a:r>
          </a:p>
        </p:txBody>
      </p:sp>
      <p:pic>
        <p:nvPicPr>
          <p:cNvPr id="10" name="Picture 9">
            <a:extLst>
              <a:ext uri="{FF2B5EF4-FFF2-40B4-BE49-F238E27FC236}">
                <a16:creationId xmlns:a16="http://schemas.microsoft.com/office/drawing/2014/main" id="{81837FAC-9D02-E07B-6468-7B205ECF3CA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7373" y="379185"/>
            <a:ext cx="1666305" cy="1749843"/>
          </a:xfrm>
          <a:prstGeom prst="rect">
            <a:avLst/>
          </a:prstGeom>
        </p:spPr>
      </p:pic>
    </p:spTree>
    <p:extLst>
      <p:ext uri="{BB962C8B-B14F-4D97-AF65-F5344CB8AC3E}">
        <p14:creationId xmlns:p14="http://schemas.microsoft.com/office/powerpoint/2010/main" val="181057209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29439</TotalTime>
  <Words>948</Words>
  <Application>Microsoft Office PowerPoint</Application>
  <PresentationFormat>Widescreen</PresentationFormat>
  <Paragraphs>64</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Verdana</vt:lpstr>
      <vt:lpstr>Wingdings</vt:lpstr>
      <vt:lpstr>1_Office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Rastogi, Varun</dc:creator>
  <cp:lastModifiedBy>Biswas, Archito</cp:lastModifiedBy>
  <cp:revision>13</cp:revision>
  <dcterms:created xsi:type="dcterms:W3CDTF">2021-03-31T07:00:34Z</dcterms:created>
  <dcterms:modified xsi:type="dcterms:W3CDTF">2026-02-18T11:37:27Z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2021-10-01T06:20:27Z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fbb1bb9b-f2c8-41cb-aa10-52e79cfae245</vt:lpwstr>
  </property>
  <property fmtid="{D5CDD505-2E9C-101B-9397-08002B2CF9AE}" pid="8" name="MSIP_Label_ea60d57e-af5b-4752-ac57-3e4f28ca11dc_ContentBits">
    <vt:lpwstr>0</vt:lpwstr>
  </property>
</Properties>
</file>